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573" r:id="rId3"/>
    <p:sldId id="5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163" autoAdjust="0"/>
  </p:normalViewPr>
  <p:slideViewPr>
    <p:cSldViewPr snapToGrid="0">
      <p:cViewPr>
        <p:scale>
          <a:sx n="78" d="100"/>
          <a:sy n="78" d="100"/>
        </p:scale>
        <p:origin x="180" y="-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3C82F-5521-4E6C-AB8D-E13B0F6767E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53C06-F2CC-47F7-82B8-498488979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8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Modelling for number of EVD deaths averted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37C998-3352-4420-A897-187C7239736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4786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Modelling for number of EVD deaths averted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37C998-3352-4420-A897-187C7239736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538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F015-53AA-4C7D-9E58-BEA7A4134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55E09-CDE8-4F89-8131-A8E8358EE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A17AC-D787-4F49-854C-905D41D0D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D9084-22C4-4A22-A037-EC560FDA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B2B5E-5DAA-4FBC-9383-1FD8A7F5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6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7DE30-1EB4-4BDC-A4A3-CFF8A10A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0DEB7-F53F-484E-A5E2-0EB2A58E7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0C5FA-E481-43B1-A0A9-6DAF9C8E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3D326-BDE3-49FD-BDD5-A5D4D1EB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92517-B077-4138-8D79-8EFE4FD5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0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E1975-81BD-4CFB-93AB-650F10FF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6C1BB-825E-400B-B896-56BC03127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59694-41FF-4CEA-8B0A-B622B7D67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EF91C-492C-466B-B977-AC0F25B9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F6FD-1756-4533-8C42-B1F4F1F9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4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2E71-5992-4658-9DFC-01E161EA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1021-4537-4905-89FD-ADF7ABBF7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103E1-2A48-4EA7-B83C-2192F84FD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410CE-9D8C-486F-9BF1-75FACAEA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633A5-C134-4CE0-8C6A-FB5A028D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7548C-EEC8-4517-9DA3-DA78376E7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3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CE5E-6D06-4DCB-A4F4-89154A64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A5C8B-E0D4-4CB1-AD02-58B7D9B39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8F636-6E07-4021-9681-52B7E12E8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EA6F9-A759-4BF8-8841-08AA21BD9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BCB69-0251-4151-8829-514497FF7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587F3-9AFD-428D-8FE5-C5D301B49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3430D9-30AF-4C74-8516-394195BB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C343D-1035-4ADA-8F3D-4AA1559D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06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5C78-6894-4663-961E-26B84A8B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852C6-5602-49A3-9CC5-A73401BA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8F296-FD47-439E-BE9B-549AE5FC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5DE54-B821-4337-9CF9-A0CA0949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6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7ACF75-93A8-4B0C-A2E5-EC3C6005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D87847-DF90-4A5A-8195-27CAC642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34737-07B4-4AD4-A137-ACDAB295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34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EF99F-FD82-4DB6-B92C-B66E01AC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6BA9-BD88-44E4-8ADA-7CDF88B39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CA39-4449-42E8-B6FE-1C24E1341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A6DC3-03C2-43A5-B31F-574752AE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44D42-AA16-41FE-906A-676EE067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58785-B78C-4F04-A3C6-D3D45A04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29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FDE07-FD50-4D80-B5DC-9102DCC4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63E39A-E0AD-4FF7-8305-3D7815A53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257B7-A2C5-4EB2-9953-995FE8A1E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CF8FB-5365-4EC0-82F2-1B775C73A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9D912-0E1C-4C10-B403-2A12A4CA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DD303-1F55-45BF-9624-CAF60AB2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72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2AF8-A57F-4FA9-AA7C-1C6C7427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970A4-69B9-463F-B548-BD9C575EC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5CFFC-F5BF-498A-9A3E-9295C136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2AD2-BCD7-4B85-8541-DC096CF2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7798C-509C-4111-AC17-7619C86D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9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33FC3-1A88-4920-94F9-9DEB51F12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17DAA-C88C-4304-8408-1D38736AD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0CC4E-D774-4E0E-AA4C-8F4F2BB0A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9BC1A-C84E-4F86-A56F-C3904FCC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14FDC-4A63-4E3E-B4AB-93C538C3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9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E9825-37A7-41A7-A287-5A5BBA70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81A50-15FA-4831-B2E6-6F032C927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A40ED-C869-4735-A974-D45B6EA4F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326CB-CCAA-4DCE-95F1-90AB00911D92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F8F9-F25E-4DE5-B2A7-46896DA8F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7B57-0FDD-474A-90FC-4104D99C1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1BE3D-EFE7-48A5-8FE4-CF5C8E610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0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221F-9193-4A0B-8CCD-D96E734440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Transitions for the </a:t>
            </a:r>
            <a:r>
              <a:rPr lang="en-US" dirty="0" err="1"/>
              <a:t>Mpox</a:t>
            </a:r>
            <a:r>
              <a:rPr lang="en-US" dirty="0"/>
              <a:t> Heterogeneous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2D3EB-929F-41EF-8F16-539D86C84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G-WAC MODELLING TEAM</a:t>
            </a:r>
          </a:p>
        </p:txBody>
      </p:sp>
    </p:spTree>
    <p:extLst>
      <p:ext uri="{BB962C8B-B14F-4D97-AF65-F5344CB8AC3E}">
        <p14:creationId xmlns:p14="http://schemas.microsoft.com/office/powerpoint/2010/main" val="4225411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F67D5E-6245-4D98-A135-F7D835D27144}"/>
              </a:ext>
            </a:extLst>
          </p:cNvPr>
          <p:cNvSpPr/>
          <p:nvPr/>
        </p:nvSpPr>
        <p:spPr>
          <a:xfrm>
            <a:off x="315883" y="3018213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S</a:t>
            </a:r>
            <a:r>
              <a:rPr lang="en-US" sz="1000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A6FCE8-D39D-4C98-81A3-2DAC9D64752A}"/>
              </a:ext>
            </a:extLst>
          </p:cNvPr>
          <p:cNvSpPr/>
          <p:nvPr/>
        </p:nvSpPr>
        <p:spPr>
          <a:xfrm>
            <a:off x="2031076" y="2223747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I</a:t>
            </a:r>
            <a:r>
              <a:rPr lang="en-US" sz="1000" dirty="0" err="1"/>
              <a:t>cc</a:t>
            </a: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252D1A-AE0D-4DCE-A8BE-79926E9A9F83}"/>
              </a:ext>
            </a:extLst>
          </p:cNvPr>
          <p:cNvSpPr/>
          <p:nvPr/>
        </p:nvSpPr>
        <p:spPr>
          <a:xfrm>
            <a:off x="6888479" y="2069176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D_c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936BE4-4FB2-4EEC-8D32-214983492AC7}"/>
              </a:ext>
            </a:extLst>
          </p:cNvPr>
          <p:cNvSpPr/>
          <p:nvPr/>
        </p:nvSpPr>
        <p:spPr>
          <a:xfrm>
            <a:off x="4333702" y="3087488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R_c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55FE28E-5733-4A55-82F7-3EBCC1E24698}"/>
              </a:ext>
            </a:extLst>
          </p:cNvPr>
          <p:cNvSpPr/>
          <p:nvPr/>
        </p:nvSpPr>
        <p:spPr>
          <a:xfrm>
            <a:off x="2031076" y="3997129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I</a:t>
            </a:r>
            <a:r>
              <a:rPr lang="en-US" sz="1000" dirty="0" err="1"/>
              <a:t>ac</a:t>
            </a:r>
            <a:endParaRPr lang="en-US" sz="1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477754A-416B-4361-9384-BC61B1F56EFB}"/>
              </a:ext>
            </a:extLst>
          </p:cNvPr>
          <p:cNvSpPr/>
          <p:nvPr/>
        </p:nvSpPr>
        <p:spPr>
          <a:xfrm>
            <a:off x="2047424" y="3087488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Id_c</a:t>
            </a:r>
            <a:endParaRPr lang="en-US" sz="1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717E7A-2C03-450E-A0A0-4B2B1C47119D}"/>
              </a:ext>
            </a:extLst>
          </p:cNvPr>
          <p:cNvCxnSpPr>
            <a:stCxn id="3" idx="3"/>
            <a:endCxn id="11" idx="1"/>
          </p:cNvCxnSpPr>
          <p:nvPr/>
        </p:nvCxnSpPr>
        <p:spPr>
          <a:xfrm flipV="1">
            <a:off x="925483" y="2490447"/>
            <a:ext cx="1105593" cy="794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18DABD-9C81-4C35-8325-DA783432EB58}"/>
              </a:ext>
            </a:extLst>
          </p:cNvPr>
          <p:cNvCxnSpPr>
            <a:stCxn id="3" idx="3"/>
            <a:endCxn id="59" idx="1"/>
          </p:cNvCxnSpPr>
          <p:nvPr/>
        </p:nvCxnSpPr>
        <p:spPr>
          <a:xfrm>
            <a:off x="925483" y="3284913"/>
            <a:ext cx="1105593" cy="978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A415827-B59D-4CBB-A591-B61B016AA2B4}"/>
              </a:ext>
            </a:extLst>
          </p:cNvPr>
          <p:cNvCxnSpPr/>
          <p:nvPr/>
        </p:nvCxnSpPr>
        <p:spPr>
          <a:xfrm>
            <a:off x="4627418" y="4123113"/>
            <a:ext cx="11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E6B2150C-8F16-45C2-B045-7AA05B733120}"/>
              </a:ext>
            </a:extLst>
          </p:cNvPr>
          <p:cNvSpPr txBox="1"/>
          <p:nvPr/>
        </p:nvSpPr>
        <p:spPr>
          <a:xfrm rot="19486904">
            <a:off x="925483" y="2663657"/>
            <a:ext cx="6456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beta_cc</a:t>
            </a:r>
            <a:endParaRPr lang="en-US" sz="11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DF427E9-5E9C-43CC-B753-A14983B20BC7}"/>
              </a:ext>
            </a:extLst>
          </p:cNvPr>
          <p:cNvSpPr txBox="1"/>
          <p:nvPr/>
        </p:nvSpPr>
        <p:spPr>
          <a:xfrm rot="2620505">
            <a:off x="1249678" y="3479691"/>
            <a:ext cx="6954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beta_ac</a:t>
            </a:r>
            <a:endParaRPr lang="en-US" sz="11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436842A-5861-4732-B130-538ECBE45FCA}"/>
              </a:ext>
            </a:extLst>
          </p:cNvPr>
          <p:cNvSpPr txBox="1"/>
          <p:nvPr/>
        </p:nvSpPr>
        <p:spPr>
          <a:xfrm>
            <a:off x="2313433" y="3661759"/>
            <a:ext cx="828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sigma_c</a:t>
            </a:r>
            <a:endParaRPr lang="en-US" sz="1100" dirty="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EBA2CA4-FD72-4412-8DC1-01AA026C530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640676" y="2490447"/>
            <a:ext cx="1992284" cy="109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AFC23B4B-C5B9-4731-90F8-BC494AF1579A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2640676" y="4263829"/>
            <a:ext cx="19978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9670DF26-6D8F-415D-86D8-E3D324A561C6}"/>
              </a:ext>
            </a:extLst>
          </p:cNvPr>
          <p:cNvCxnSpPr>
            <a:stCxn id="62" idx="3"/>
            <a:endCxn id="13" idx="1"/>
          </p:cNvCxnSpPr>
          <p:nvPr/>
        </p:nvCxnSpPr>
        <p:spPr>
          <a:xfrm>
            <a:off x="2657024" y="3354188"/>
            <a:ext cx="1676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98E7223F-35DC-45E9-B9D9-E1DC0B30329E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638502" y="2501436"/>
            <a:ext cx="0" cy="586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3CA2D4F3-4143-4F3B-BE96-538998F33E44}"/>
              </a:ext>
            </a:extLst>
          </p:cNvPr>
          <p:cNvCxnSpPr>
            <a:endCxn id="13" idx="2"/>
          </p:cNvCxnSpPr>
          <p:nvPr/>
        </p:nvCxnSpPr>
        <p:spPr>
          <a:xfrm flipV="1">
            <a:off x="4627418" y="3620888"/>
            <a:ext cx="11084" cy="642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6996DB24-A5E2-44EC-BE65-F026C6C894E6}"/>
              </a:ext>
            </a:extLst>
          </p:cNvPr>
          <p:cNvCxnSpPr/>
          <p:nvPr/>
        </p:nvCxnSpPr>
        <p:spPr>
          <a:xfrm>
            <a:off x="2640676" y="2335876"/>
            <a:ext cx="42478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937DCF04-F165-4A7B-8296-61F59E7D0EEA}"/>
              </a:ext>
            </a:extLst>
          </p:cNvPr>
          <p:cNvCxnSpPr>
            <a:cxnSpLocks/>
          </p:cNvCxnSpPr>
          <p:nvPr/>
        </p:nvCxnSpPr>
        <p:spPr>
          <a:xfrm>
            <a:off x="2640676" y="4430684"/>
            <a:ext cx="45526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7A98143A-6409-4B3C-B272-C14199E52C59}"/>
              </a:ext>
            </a:extLst>
          </p:cNvPr>
          <p:cNvCxnSpPr>
            <a:cxnSpLocks/>
            <a:endCxn id="12" idx="2"/>
          </p:cNvCxnSpPr>
          <p:nvPr/>
        </p:nvCxnSpPr>
        <p:spPr>
          <a:xfrm flipH="1" flipV="1">
            <a:off x="7193279" y="2602576"/>
            <a:ext cx="41565" cy="1828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83B1B6BC-3163-437E-B110-BD5C5D5A1880}"/>
              </a:ext>
            </a:extLst>
          </p:cNvPr>
          <p:cNvCxnSpPr/>
          <p:nvPr/>
        </p:nvCxnSpPr>
        <p:spPr>
          <a:xfrm>
            <a:off x="2657024" y="3516630"/>
            <a:ext cx="1233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E9FEED9-9113-458C-9680-91B5EA652B1F}"/>
              </a:ext>
            </a:extLst>
          </p:cNvPr>
          <p:cNvCxnSpPr/>
          <p:nvPr/>
        </p:nvCxnSpPr>
        <p:spPr>
          <a:xfrm>
            <a:off x="3890356" y="3516630"/>
            <a:ext cx="0" cy="1329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B9B03E0D-B024-41F4-AAAF-956D19881C12}"/>
              </a:ext>
            </a:extLst>
          </p:cNvPr>
          <p:cNvCxnSpPr/>
          <p:nvPr/>
        </p:nvCxnSpPr>
        <p:spPr>
          <a:xfrm>
            <a:off x="3890356" y="4846320"/>
            <a:ext cx="44306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13FBDAC0-8EE1-485A-BD4D-F64CCE57FA6A}"/>
              </a:ext>
            </a:extLst>
          </p:cNvPr>
          <p:cNvCxnSpPr/>
          <p:nvPr/>
        </p:nvCxnSpPr>
        <p:spPr>
          <a:xfrm flipH="1" flipV="1">
            <a:off x="8221287" y="2335876"/>
            <a:ext cx="99753" cy="2510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FCA4A7FA-03C8-44BF-8120-52F73EDFD662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7498079" y="2335876"/>
            <a:ext cx="723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C98E1681-E7E2-4BD6-BA31-8D0765C54352}"/>
              </a:ext>
            </a:extLst>
          </p:cNvPr>
          <p:cNvCxnSpPr>
            <a:cxnSpLocks/>
            <a:stCxn id="11" idx="2"/>
            <a:endCxn id="62" idx="0"/>
          </p:cNvCxnSpPr>
          <p:nvPr/>
        </p:nvCxnSpPr>
        <p:spPr>
          <a:xfrm>
            <a:off x="2335876" y="2757147"/>
            <a:ext cx="16348" cy="33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054D2CE4-9469-4E70-9B75-D61F1D0B8B3A}"/>
              </a:ext>
            </a:extLst>
          </p:cNvPr>
          <p:cNvCxnSpPr>
            <a:stCxn id="59" idx="0"/>
            <a:endCxn id="62" idx="2"/>
          </p:cNvCxnSpPr>
          <p:nvPr/>
        </p:nvCxnSpPr>
        <p:spPr>
          <a:xfrm flipV="1">
            <a:off x="2335876" y="3620888"/>
            <a:ext cx="16348" cy="376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3F2A63C4-0E51-4665-87D0-343EE4F3E1B1}"/>
              </a:ext>
            </a:extLst>
          </p:cNvPr>
          <p:cNvSpPr txBox="1"/>
          <p:nvPr/>
        </p:nvSpPr>
        <p:spPr>
          <a:xfrm>
            <a:off x="2344050" y="2759147"/>
            <a:ext cx="828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sigma_c</a:t>
            </a:r>
            <a:endParaRPr lang="en-US" sz="11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1488356-2246-4932-9BB4-1C07A29A0391}"/>
              </a:ext>
            </a:extLst>
          </p:cNvPr>
          <p:cNvSpPr/>
          <p:nvPr/>
        </p:nvSpPr>
        <p:spPr>
          <a:xfrm>
            <a:off x="3500905" y="2463254"/>
            <a:ext cx="7377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gamma_c</a:t>
            </a:r>
            <a:endParaRPr lang="en-US" sz="10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599EDD1E-E276-4485-B113-B83857F7F9CE}"/>
              </a:ext>
            </a:extLst>
          </p:cNvPr>
          <p:cNvSpPr/>
          <p:nvPr/>
        </p:nvSpPr>
        <p:spPr>
          <a:xfrm>
            <a:off x="3059084" y="4040874"/>
            <a:ext cx="69762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gamma_c</a:t>
            </a:r>
            <a:endParaRPr lang="en-US" sz="10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0F52EB13-3F99-4E13-A32F-B8D78F0F3F21}"/>
              </a:ext>
            </a:extLst>
          </p:cNvPr>
          <p:cNvSpPr/>
          <p:nvPr/>
        </p:nvSpPr>
        <p:spPr>
          <a:xfrm>
            <a:off x="3036915" y="3151898"/>
            <a:ext cx="85472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gamma_c_Id</a:t>
            </a:r>
            <a:endParaRPr lang="en-US" sz="10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9130CB5-AF45-4DA3-B223-5CC838B885AD}"/>
              </a:ext>
            </a:extLst>
          </p:cNvPr>
          <p:cNvSpPr txBox="1"/>
          <p:nvPr/>
        </p:nvSpPr>
        <p:spPr>
          <a:xfrm>
            <a:off x="207819" y="399011"/>
            <a:ext cx="811322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u="sng" dirty="0"/>
              <a:t>CHILDREN POPULATION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EBA377-61F1-42DE-9618-E1E5FF4B240A}"/>
              </a:ext>
            </a:extLst>
          </p:cNvPr>
          <p:cNvSpPr/>
          <p:nvPr/>
        </p:nvSpPr>
        <p:spPr>
          <a:xfrm>
            <a:off x="5550688" y="2043831"/>
            <a:ext cx="57900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rho_c_I</a:t>
            </a:r>
            <a:endParaRPr lang="en-US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525F25-94B7-4DC7-83FD-DC93D7103116}"/>
              </a:ext>
            </a:extLst>
          </p:cNvPr>
          <p:cNvSpPr/>
          <p:nvPr/>
        </p:nvSpPr>
        <p:spPr>
          <a:xfrm>
            <a:off x="5840191" y="4140718"/>
            <a:ext cx="57900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rho_c_I</a:t>
            </a:r>
            <a:endParaRPr lang="en-US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DCA9E-5E1A-4D7D-8661-7FA4F14B97E9}"/>
              </a:ext>
            </a:extLst>
          </p:cNvPr>
          <p:cNvSpPr/>
          <p:nvPr/>
        </p:nvSpPr>
        <p:spPr>
          <a:xfrm>
            <a:off x="7150772" y="4615143"/>
            <a:ext cx="64633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err="1"/>
              <a:t>rho_c_Id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4C091-AC06-4D03-8F0A-6785B9D40A86}"/>
              </a:ext>
            </a:extLst>
          </p:cNvPr>
          <p:cNvSpPr txBox="1"/>
          <p:nvPr/>
        </p:nvSpPr>
        <p:spPr>
          <a:xfrm>
            <a:off x="9005207" y="130629"/>
            <a:ext cx="303711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 = Susceptible children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Icc</a:t>
            </a:r>
            <a:r>
              <a:rPr lang="en-US" dirty="0"/>
              <a:t> = Infectious children via child-child </a:t>
            </a:r>
            <a:r>
              <a:rPr lang="en-US" dirty="0" err="1"/>
              <a:t>transimission</a:t>
            </a:r>
            <a:r>
              <a:rPr lang="en-US" dirty="0"/>
              <a:t>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Iac</a:t>
            </a:r>
            <a:r>
              <a:rPr lang="en-US" dirty="0"/>
              <a:t> = Infectious children via adult-child </a:t>
            </a:r>
            <a:r>
              <a:rPr lang="en-US" dirty="0" err="1"/>
              <a:t>transimission</a:t>
            </a:r>
            <a:r>
              <a:rPr lang="en-US" dirty="0"/>
              <a:t>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Id_c</a:t>
            </a:r>
            <a:r>
              <a:rPr lang="en-US" dirty="0"/>
              <a:t> = </a:t>
            </a:r>
            <a:r>
              <a:rPr lang="en-US" dirty="0" err="1"/>
              <a:t>Infectous</a:t>
            </a:r>
            <a:r>
              <a:rPr lang="en-US" dirty="0"/>
              <a:t> children that has been identified.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R_c</a:t>
            </a:r>
            <a:r>
              <a:rPr lang="en-US" dirty="0"/>
              <a:t> = Recovered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D_c</a:t>
            </a:r>
            <a:r>
              <a:rPr lang="en-US" dirty="0"/>
              <a:t> = Dead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Beta_cc</a:t>
            </a:r>
            <a:r>
              <a:rPr lang="en-US" dirty="0"/>
              <a:t> = Transmission rate via child-child </a:t>
            </a:r>
            <a:r>
              <a:rPr lang="en-US" dirty="0" err="1"/>
              <a:t>transimission</a:t>
            </a:r>
            <a:r>
              <a:rPr lang="en-US" dirty="0"/>
              <a:t>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Beta_ac</a:t>
            </a:r>
            <a:r>
              <a:rPr lang="en-US" dirty="0"/>
              <a:t> = Transmission rate via adult-child </a:t>
            </a:r>
            <a:r>
              <a:rPr lang="en-US" dirty="0" err="1"/>
              <a:t>transimission</a:t>
            </a:r>
            <a:r>
              <a:rPr lang="en-US" dirty="0"/>
              <a:t> pathway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24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F67D5E-6245-4D98-A135-F7D835D27144}"/>
              </a:ext>
            </a:extLst>
          </p:cNvPr>
          <p:cNvSpPr/>
          <p:nvPr/>
        </p:nvSpPr>
        <p:spPr>
          <a:xfrm>
            <a:off x="315883" y="3018213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S</a:t>
            </a:r>
            <a:r>
              <a:rPr lang="en-US" sz="1000" dirty="0"/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A6FCE8-D39D-4C98-81A3-2DAC9D64752A}"/>
              </a:ext>
            </a:extLst>
          </p:cNvPr>
          <p:cNvSpPr/>
          <p:nvPr/>
        </p:nvSpPr>
        <p:spPr>
          <a:xfrm>
            <a:off x="2031076" y="2223747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I</a:t>
            </a:r>
            <a:r>
              <a:rPr lang="en-US" sz="1000" dirty="0" err="1"/>
              <a:t>aa</a:t>
            </a: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252D1A-AE0D-4DCE-A8BE-79926E9A9F83}"/>
              </a:ext>
            </a:extLst>
          </p:cNvPr>
          <p:cNvSpPr/>
          <p:nvPr/>
        </p:nvSpPr>
        <p:spPr>
          <a:xfrm>
            <a:off x="6888479" y="2069176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D_a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936BE4-4FB2-4EEC-8D32-214983492AC7}"/>
              </a:ext>
            </a:extLst>
          </p:cNvPr>
          <p:cNvSpPr/>
          <p:nvPr/>
        </p:nvSpPr>
        <p:spPr>
          <a:xfrm>
            <a:off x="4333702" y="3087488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R_a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55FE28E-5733-4A55-82F7-3EBCC1E24698}"/>
              </a:ext>
            </a:extLst>
          </p:cNvPr>
          <p:cNvSpPr/>
          <p:nvPr/>
        </p:nvSpPr>
        <p:spPr>
          <a:xfrm>
            <a:off x="2031076" y="3997129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I</a:t>
            </a:r>
            <a:r>
              <a:rPr lang="en-US" sz="1000" dirty="0"/>
              <a:t>ca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477754A-416B-4361-9384-BC61B1F56EFB}"/>
              </a:ext>
            </a:extLst>
          </p:cNvPr>
          <p:cNvSpPr/>
          <p:nvPr/>
        </p:nvSpPr>
        <p:spPr>
          <a:xfrm>
            <a:off x="2047424" y="3087488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Id_a</a:t>
            </a:r>
            <a:endParaRPr lang="en-US" sz="1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717E7A-2C03-450E-A0A0-4B2B1C47119D}"/>
              </a:ext>
            </a:extLst>
          </p:cNvPr>
          <p:cNvCxnSpPr>
            <a:stCxn id="3" idx="3"/>
            <a:endCxn id="11" idx="1"/>
          </p:cNvCxnSpPr>
          <p:nvPr/>
        </p:nvCxnSpPr>
        <p:spPr>
          <a:xfrm flipV="1">
            <a:off x="925483" y="2490447"/>
            <a:ext cx="1105593" cy="794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18DABD-9C81-4C35-8325-DA783432EB58}"/>
              </a:ext>
            </a:extLst>
          </p:cNvPr>
          <p:cNvCxnSpPr>
            <a:stCxn id="3" idx="3"/>
            <a:endCxn id="59" idx="1"/>
          </p:cNvCxnSpPr>
          <p:nvPr/>
        </p:nvCxnSpPr>
        <p:spPr>
          <a:xfrm>
            <a:off x="925483" y="3284913"/>
            <a:ext cx="1105593" cy="978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A415827-B59D-4CBB-A591-B61B016AA2B4}"/>
              </a:ext>
            </a:extLst>
          </p:cNvPr>
          <p:cNvCxnSpPr/>
          <p:nvPr/>
        </p:nvCxnSpPr>
        <p:spPr>
          <a:xfrm>
            <a:off x="4627418" y="4123113"/>
            <a:ext cx="110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E6B2150C-8F16-45C2-B045-7AA05B733120}"/>
              </a:ext>
            </a:extLst>
          </p:cNvPr>
          <p:cNvSpPr txBox="1"/>
          <p:nvPr/>
        </p:nvSpPr>
        <p:spPr>
          <a:xfrm rot="19486904">
            <a:off x="925483" y="2663657"/>
            <a:ext cx="6456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beta_aa</a:t>
            </a:r>
            <a:endParaRPr lang="en-US" sz="11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DF427E9-5E9C-43CC-B753-A14983B20BC7}"/>
              </a:ext>
            </a:extLst>
          </p:cNvPr>
          <p:cNvSpPr txBox="1"/>
          <p:nvPr/>
        </p:nvSpPr>
        <p:spPr>
          <a:xfrm rot="2620505">
            <a:off x="1249678" y="3479691"/>
            <a:ext cx="6954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beta_ca</a:t>
            </a:r>
            <a:endParaRPr lang="en-US" sz="11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436842A-5861-4732-B130-538ECBE45FCA}"/>
              </a:ext>
            </a:extLst>
          </p:cNvPr>
          <p:cNvSpPr txBox="1"/>
          <p:nvPr/>
        </p:nvSpPr>
        <p:spPr>
          <a:xfrm>
            <a:off x="2313433" y="3661759"/>
            <a:ext cx="828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sigma_a</a:t>
            </a:r>
            <a:endParaRPr lang="en-US" sz="1100" dirty="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EBA2CA4-FD72-4412-8DC1-01AA026C530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640676" y="2490447"/>
            <a:ext cx="1992284" cy="109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AFC23B4B-C5B9-4731-90F8-BC494AF1579A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2640676" y="4263829"/>
            <a:ext cx="19978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9670DF26-6D8F-415D-86D8-E3D324A561C6}"/>
              </a:ext>
            </a:extLst>
          </p:cNvPr>
          <p:cNvCxnSpPr>
            <a:stCxn id="62" idx="3"/>
            <a:endCxn id="13" idx="1"/>
          </p:cNvCxnSpPr>
          <p:nvPr/>
        </p:nvCxnSpPr>
        <p:spPr>
          <a:xfrm>
            <a:off x="2657024" y="3354188"/>
            <a:ext cx="1676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98E7223F-35DC-45E9-B9D9-E1DC0B30329E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638502" y="2501436"/>
            <a:ext cx="0" cy="586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3CA2D4F3-4143-4F3B-BE96-538998F33E44}"/>
              </a:ext>
            </a:extLst>
          </p:cNvPr>
          <p:cNvCxnSpPr>
            <a:endCxn id="13" idx="2"/>
          </p:cNvCxnSpPr>
          <p:nvPr/>
        </p:nvCxnSpPr>
        <p:spPr>
          <a:xfrm flipV="1">
            <a:off x="4627418" y="3620888"/>
            <a:ext cx="11084" cy="642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6996DB24-A5E2-44EC-BE65-F026C6C894E6}"/>
              </a:ext>
            </a:extLst>
          </p:cNvPr>
          <p:cNvCxnSpPr/>
          <p:nvPr/>
        </p:nvCxnSpPr>
        <p:spPr>
          <a:xfrm>
            <a:off x="2640676" y="2335876"/>
            <a:ext cx="42478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937DCF04-F165-4A7B-8296-61F59E7D0EEA}"/>
              </a:ext>
            </a:extLst>
          </p:cNvPr>
          <p:cNvCxnSpPr>
            <a:cxnSpLocks/>
          </p:cNvCxnSpPr>
          <p:nvPr/>
        </p:nvCxnSpPr>
        <p:spPr>
          <a:xfrm>
            <a:off x="2640676" y="4430684"/>
            <a:ext cx="45526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7A98143A-6409-4B3C-B272-C14199E52C59}"/>
              </a:ext>
            </a:extLst>
          </p:cNvPr>
          <p:cNvCxnSpPr>
            <a:cxnSpLocks/>
            <a:endCxn id="12" idx="2"/>
          </p:cNvCxnSpPr>
          <p:nvPr/>
        </p:nvCxnSpPr>
        <p:spPr>
          <a:xfrm flipH="1" flipV="1">
            <a:off x="7193279" y="2602576"/>
            <a:ext cx="41565" cy="1828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83B1B6BC-3163-437E-B110-BD5C5D5A1880}"/>
              </a:ext>
            </a:extLst>
          </p:cNvPr>
          <p:cNvCxnSpPr/>
          <p:nvPr/>
        </p:nvCxnSpPr>
        <p:spPr>
          <a:xfrm>
            <a:off x="2657024" y="3516630"/>
            <a:ext cx="1233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E9FEED9-9113-458C-9680-91B5EA652B1F}"/>
              </a:ext>
            </a:extLst>
          </p:cNvPr>
          <p:cNvCxnSpPr/>
          <p:nvPr/>
        </p:nvCxnSpPr>
        <p:spPr>
          <a:xfrm>
            <a:off x="3890356" y="3516630"/>
            <a:ext cx="0" cy="1329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B9B03E0D-B024-41F4-AAAF-956D19881C12}"/>
              </a:ext>
            </a:extLst>
          </p:cNvPr>
          <p:cNvCxnSpPr/>
          <p:nvPr/>
        </p:nvCxnSpPr>
        <p:spPr>
          <a:xfrm>
            <a:off x="3890356" y="4846320"/>
            <a:ext cx="44306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13FBDAC0-8EE1-485A-BD4D-F64CCE57FA6A}"/>
              </a:ext>
            </a:extLst>
          </p:cNvPr>
          <p:cNvCxnSpPr/>
          <p:nvPr/>
        </p:nvCxnSpPr>
        <p:spPr>
          <a:xfrm flipH="1" flipV="1">
            <a:off x="8221287" y="2335876"/>
            <a:ext cx="99753" cy="2510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FCA4A7FA-03C8-44BF-8120-52F73EDFD662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7498079" y="2335876"/>
            <a:ext cx="723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C98E1681-E7E2-4BD6-BA31-8D0765C54352}"/>
              </a:ext>
            </a:extLst>
          </p:cNvPr>
          <p:cNvCxnSpPr>
            <a:cxnSpLocks/>
            <a:stCxn id="11" idx="2"/>
            <a:endCxn id="62" idx="0"/>
          </p:cNvCxnSpPr>
          <p:nvPr/>
        </p:nvCxnSpPr>
        <p:spPr>
          <a:xfrm>
            <a:off x="2335876" y="2757147"/>
            <a:ext cx="16348" cy="33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054D2CE4-9469-4E70-9B75-D61F1D0B8B3A}"/>
              </a:ext>
            </a:extLst>
          </p:cNvPr>
          <p:cNvCxnSpPr>
            <a:stCxn id="59" idx="0"/>
            <a:endCxn id="62" idx="2"/>
          </p:cNvCxnSpPr>
          <p:nvPr/>
        </p:nvCxnSpPr>
        <p:spPr>
          <a:xfrm flipV="1">
            <a:off x="2335876" y="3620888"/>
            <a:ext cx="16348" cy="376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3F2A63C4-0E51-4665-87D0-343EE4F3E1B1}"/>
              </a:ext>
            </a:extLst>
          </p:cNvPr>
          <p:cNvSpPr txBox="1"/>
          <p:nvPr/>
        </p:nvSpPr>
        <p:spPr>
          <a:xfrm>
            <a:off x="2344050" y="2759147"/>
            <a:ext cx="8287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sigma_a</a:t>
            </a:r>
            <a:endParaRPr lang="en-US" sz="11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1488356-2246-4932-9BB4-1C07A29A0391}"/>
              </a:ext>
            </a:extLst>
          </p:cNvPr>
          <p:cNvSpPr/>
          <p:nvPr/>
        </p:nvSpPr>
        <p:spPr>
          <a:xfrm>
            <a:off x="3500905" y="2463254"/>
            <a:ext cx="69762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gamma_a</a:t>
            </a:r>
            <a:endParaRPr lang="en-US" sz="10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599EDD1E-E276-4485-B113-B83857F7F9CE}"/>
              </a:ext>
            </a:extLst>
          </p:cNvPr>
          <p:cNvSpPr/>
          <p:nvPr/>
        </p:nvSpPr>
        <p:spPr>
          <a:xfrm>
            <a:off x="3059084" y="4040874"/>
            <a:ext cx="69762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gamma_a</a:t>
            </a:r>
            <a:endParaRPr lang="en-US" sz="10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0F52EB13-3F99-4E13-A32F-B8D78F0F3F21}"/>
              </a:ext>
            </a:extLst>
          </p:cNvPr>
          <p:cNvSpPr/>
          <p:nvPr/>
        </p:nvSpPr>
        <p:spPr>
          <a:xfrm>
            <a:off x="3036915" y="3151898"/>
            <a:ext cx="85472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err="1"/>
              <a:t>gamma_a_Id</a:t>
            </a:r>
            <a:endParaRPr lang="en-US" sz="10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9130CB5-AF45-4DA3-B223-5CC838B885AD}"/>
              </a:ext>
            </a:extLst>
          </p:cNvPr>
          <p:cNvSpPr txBox="1"/>
          <p:nvPr/>
        </p:nvSpPr>
        <p:spPr>
          <a:xfrm>
            <a:off x="207819" y="399011"/>
            <a:ext cx="811322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u="sng" dirty="0"/>
              <a:t>ADULT POPULATION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99D97-E3B2-40BC-BA4E-BF22A1FE6052}"/>
              </a:ext>
            </a:extLst>
          </p:cNvPr>
          <p:cNvSpPr txBox="1"/>
          <p:nvPr/>
        </p:nvSpPr>
        <p:spPr>
          <a:xfrm>
            <a:off x="8662307" y="302079"/>
            <a:ext cx="31666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 = Susceptible adult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Iaa</a:t>
            </a:r>
            <a:r>
              <a:rPr lang="en-US" dirty="0"/>
              <a:t> = Infectious adults via adult-adult </a:t>
            </a:r>
            <a:r>
              <a:rPr lang="en-US" dirty="0" err="1"/>
              <a:t>transimission</a:t>
            </a:r>
            <a:r>
              <a:rPr lang="en-US" dirty="0"/>
              <a:t>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Ica = Infectious adults via child-adult </a:t>
            </a:r>
            <a:r>
              <a:rPr lang="en-US" dirty="0" err="1"/>
              <a:t>transimission</a:t>
            </a:r>
            <a:r>
              <a:rPr lang="en-US" dirty="0"/>
              <a:t>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Id_a</a:t>
            </a:r>
            <a:r>
              <a:rPr lang="en-US" dirty="0"/>
              <a:t> = </a:t>
            </a:r>
            <a:r>
              <a:rPr lang="en-US" dirty="0" err="1"/>
              <a:t>Infectous</a:t>
            </a:r>
            <a:r>
              <a:rPr lang="en-US" dirty="0"/>
              <a:t> adult that has been identified.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R_a</a:t>
            </a:r>
            <a:r>
              <a:rPr lang="en-US" dirty="0"/>
              <a:t> = Recovered adult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D_a</a:t>
            </a:r>
            <a:r>
              <a:rPr lang="en-US" dirty="0"/>
              <a:t> = Dead adult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Beta_aa</a:t>
            </a:r>
            <a:r>
              <a:rPr lang="en-US" dirty="0"/>
              <a:t> = Transmission rate via adult-adult </a:t>
            </a:r>
            <a:r>
              <a:rPr lang="en-US" dirty="0" err="1"/>
              <a:t>transimission</a:t>
            </a:r>
            <a:r>
              <a:rPr lang="en-US" dirty="0"/>
              <a:t>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Beta_ca</a:t>
            </a:r>
            <a:r>
              <a:rPr lang="en-US" dirty="0"/>
              <a:t> = Transmission rate via child-adult </a:t>
            </a:r>
            <a:r>
              <a:rPr lang="en-US" dirty="0" err="1"/>
              <a:t>transimission</a:t>
            </a:r>
            <a:r>
              <a:rPr lang="en-US" dirty="0"/>
              <a:t>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5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3945</TotalTime>
  <Words>243</Words>
  <Application>Microsoft Office PowerPoint</Application>
  <PresentationFormat>Widescreen</PresentationFormat>
  <Paragraphs>53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Model Transitions for the Mpox Heterogeneous Model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Shakira Babirye</dc:creator>
  <cp:lastModifiedBy>Shakira Babirye</cp:lastModifiedBy>
  <cp:revision>12</cp:revision>
  <dcterms:created xsi:type="dcterms:W3CDTF">2024-10-11T06:06:53Z</dcterms:created>
  <dcterms:modified xsi:type="dcterms:W3CDTF">2024-10-20T04:48:41Z</dcterms:modified>
</cp:coreProperties>
</file>