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9" r:id="rId4"/>
    <p:sldId id="258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77" d="100"/>
          <a:sy n="77" d="100"/>
        </p:scale>
        <p:origin x="232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FB8534-8818-4A6A-8BD1-719BAAF16E9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F3210FF-6B76-49A5-A445-F8053E4F9AE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A007F7-E32A-4A55-A5D3-FBE87EC80D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3D7D2D-49B9-434C-B101-1F7F8FD442C6}" type="datetimeFigureOut">
              <a:rPr lang="en-US" smtClean="0"/>
              <a:t>10/21/2024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B59D50-1E1F-4266-891E-0A3D4E95DA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840820-6A0E-4377-8803-C40721AF6E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66DB3B-7B8E-41FD-B07B-A6D51855FE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25486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68A4ED-977F-4AF9-AA1B-4C2051A571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EF21C9-FCE8-4D0E-A096-E13AF03865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D3FE17-8742-4174-A7A3-82A18D3CCA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3D7D2D-49B9-434C-B101-1F7F8FD442C6}" type="datetimeFigureOut">
              <a:rPr lang="en-US" smtClean="0"/>
              <a:t>10/21/2024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6BB5F8-301C-49EB-BD5A-58467C3A1B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5BB4D0-CB09-4372-A146-4F56E512CA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66DB3B-7B8E-41FD-B07B-A6D51855FE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39449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B438BF-4F71-4B78-ACB2-AEDCF7709A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B195D75-CF84-411F-B009-9397786FCFA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18A63C-CEB2-4899-AFDE-8C8A8FB409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3D7D2D-49B9-434C-B101-1F7F8FD442C6}" type="datetimeFigureOut">
              <a:rPr lang="en-US" smtClean="0"/>
              <a:t>10/21/2024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3AD7F9-4A0D-4E00-A223-45B8C4CC6B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FB2F3E-7C73-446C-81B6-64FD33DF78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66DB3B-7B8E-41FD-B07B-A6D51855FE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86977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6B2D3C-0C76-4920-B339-22B18AF559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5EAE74-D155-40B1-B86C-089FFD4CA10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3753A66-66B6-4594-AA6D-21E295F66FB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C308878-0462-45AB-8E8E-17F2CE3A00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3D7D2D-49B9-434C-B101-1F7F8FD442C6}" type="datetimeFigureOut">
              <a:rPr lang="en-US" smtClean="0"/>
              <a:t>10/21/2024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EA9DDB5-E5A1-4221-9A6A-D293CE12A3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F5E9CAF-42DF-4498-8950-1503E402C4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66DB3B-7B8E-41FD-B07B-A6D51855FE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88738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FA3CD6-12DC-4DC0-A44A-35B12A72A7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2FA6F4C-185A-46CF-9B43-B84A29BB0C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3C9D770-C883-42A3-B034-4876065FB7D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E3A427D-2438-4A7A-B704-BE13A96D701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16C4B9C-3115-4F3F-9BD8-0E3E59037AD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ACAA96A-1494-442F-933D-E527750ED1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3D7D2D-49B9-434C-B101-1F7F8FD442C6}" type="datetimeFigureOut">
              <a:rPr lang="en-US" smtClean="0"/>
              <a:t>10/21/2024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81F3E0F-E16F-4ADB-8C67-8B7F881FA9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1D42758-7AD6-4059-A1D1-9CF13FA6D4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66DB3B-7B8E-41FD-B07B-A6D51855FE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98967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D900E4-0543-4B8E-872A-01417C006C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59FA311-B1AD-4C41-80A3-48B9E9ED90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3D7D2D-49B9-434C-B101-1F7F8FD442C6}" type="datetimeFigureOut">
              <a:rPr lang="en-US" smtClean="0"/>
              <a:t>10/21/2024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93B313B-5EA0-4EB3-A1F4-A9CE4D67E4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C2FEE2E-8851-4119-BE92-3FBC7E7191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66DB3B-7B8E-41FD-B07B-A6D51855FE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75959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40C907C-BE4B-44C8-A4CE-5BE0168AA1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3D7D2D-49B9-434C-B101-1F7F8FD442C6}" type="datetimeFigureOut">
              <a:rPr lang="en-US" smtClean="0"/>
              <a:t>10/21/2024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3516C4A-6DC1-4FD5-90FA-A8D6B5CE3C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FD04BDC-C292-4A7C-B55D-283FEAB793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66DB3B-7B8E-41FD-B07B-A6D51855FE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5047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F93FBD-84C6-48AB-8892-333FBD161F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476527-CAE1-4AA3-87DF-DEA1F99F71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8741906-AE20-467D-B889-910968999EF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4248017-8E81-479B-9F20-E5BA6C54AA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3D7D2D-49B9-434C-B101-1F7F8FD442C6}" type="datetimeFigureOut">
              <a:rPr lang="en-US" smtClean="0"/>
              <a:t>10/21/2024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2BD7061-6BEA-4B8B-9FC0-6CFA89E24E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B39DB60-E1E6-4EDA-9DBA-72C56A93E2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66DB3B-7B8E-41FD-B07B-A6D51855FE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82847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B7E5EE-9DDD-4E98-B999-2E11B35532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10F8E74-75B3-4CD3-B921-EE9BDD0EC25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AD715CB-FCD3-4229-8A0B-BCFD61369D1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6141308-089C-46B0-AFE9-51CCBAA655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3D7D2D-49B9-434C-B101-1F7F8FD442C6}" type="datetimeFigureOut">
              <a:rPr lang="en-US" smtClean="0"/>
              <a:t>10/21/2024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029B2CC-B4C4-4673-8DC4-FC5401DCD2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87643B7-B9F9-4115-A8EA-6014B3B6D1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66DB3B-7B8E-41FD-B07B-A6D51855FE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41648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3168D4-4D46-4A9C-8F7A-1A473D0FB6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755DF67-9B92-4740-A2EB-C2D46D1C8DD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F7FEF3-27D3-41B0-B5DA-800AC95E99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3D7D2D-49B9-434C-B101-1F7F8FD442C6}" type="datetimeFigureOut">
              <a:rPr lang="en-US" smtClean="0"/>
              <a:t>10/21/2024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FA6B2A-10B2-472B-8019-9C652BBAEF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147BF7-7FC6-4A4D-9713-A0CF209C76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66DB3B-7B8E-41FD-B07B-A6D51855FE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65125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FA96902-87F6-41F4-8D6E-24F31696696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06E84EA-6556-4895-B2C6-D033CA504AA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CC6E81-0B92-49E2-800D-D5125B53C1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3D7D2D-49B9-434C-B101-1F7F8FD442C6}" type="datetimeFigureOut">
              <a:rPr lang="en-US" smtClean="0"/>
              <a:t>10/21/2024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1D32E1-C85F-4C26-AFAA-59D59CD12E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17605C-0770-4FB8-AD23-7827CEDAEC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66DB3B-7B8E-41FD-B07B-A6D51855FE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88842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C82C04A-1989-48A6-B67D-2D2AA89AF0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04393AE-079A-429B-985B-B6432C8E84C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D3F7A0-225D-4BC7-9F54-ABAE6685678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F3D7D2D-49B9-434C-B101-1F7F8FD442C6}" type="datetimeFigureOut">
              <a:rPr lang="en-US" smtClean="0"/>
              <a:t>10/21/2024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5416C8-5C9F-431C-8F81-28B9D3C0477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BDFA9F-FFFD-42B8-B4A9-B2488B26673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B66DB3B-7B8E-41FD-B07B-A6D51855FE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9646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A08547-E614-40DF-8FC5-021F8EAF286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2715FDB-9729-4631-B8DE-4F7DD25978F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40537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DB64C3-DF88-4E25-A961-4C25EAC624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u="sng" dirty="0"/>
              <a:t>Model transitions for the children’s population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B98B83-299D-4E98-AA9A-E9B56EF302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7942" y="1825625"/>
            <a:ext cx="11887200" cy="4351338"/>
          </a:xfrm>
        </p:spPr>
        <p:txBody>
          <a:bodyPr/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306F24E6-5700-478B-BA20-0FE64F6AADD3}"/>
              </a:ext>
            </a:extLst>
          </p:cNvPr>
          <p:cNvSpPr/>
          <p:nvPr/>
        </p:nvSpPr>
        <p:spPr>
          <a:xfrm>
            <a:off x="640080" y="3429000"/>
            <a:ext cx="814647" cy="65670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Sc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C0AFC17E-90A6-479F-9727-33D231969D77}"/>
              </a:ext>
            </a:extLst>
          </p:cNvPr>
          <p:cNvSpPr/>
          <p:nvPr/>
        </p:nvSpPr>
        <p:spPr>
          <a:xfrm>
            <a:off x="3128357" y="2003367"/>
            <a:ext cx="814647" cy="65670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Icc</a:t>
            </a:r>
            <a:endParaRPr lang="en-US" dirty="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660B64B8-2E81-4C61-91F2-B56C5B7C4074}"/>
              </a:ext>
            </a:extLst>
          </p:cNvPr>
          <p:cNvSpPr/>
          <p:nvPr/>
        </p:nvSpPr>
        <p:spPr>
          <a:xfrm>
            <a:off x="3128356" y="3429000"/>
            <a:ext cx="814647" cy="65670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Id_c</a:t>
            </a:r>
            <a:endParaRPr lang="en-US" dirty="0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F2015EE1-E21A-49C2-A1A6-93A5658D34B6}"/>
              </a:ext>
            </a:extLst>
          </p:cNvPr>
          <p:cNvSpPr/>
          <p:nvPr/>
        </p:nvSpPr>
        <p:spPr>
          <a:xfrm>
            <a:off x="3128355" y="5127567"/>
            <a:ext cx="814647" cy="65670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Iac</a:t>
            </a:r>
            <a:endParaRPr lang="en-US" dirty="0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2C649B7F-47BB-4B5F-A7E2-1C00BEEA20BD}"/>
              </a:ext>
            </a:extLst>
          </p:cNvPr>
          <p:cNvSpPr/>
          <p:nvPr/>
        </p:nvSpPr>
        <p:spPr>
          <a:xfrm>
            <a:off x="6151418" y="3483032"/>
            <a:ext cx="853439" cy="602673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Rc</a:t>
            </a:r>
            <a:endParaRPr lang="en-US" dirty="0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9917B16F-D2EC-4B81-BCF1-6F3A1116A20A}"/>
              </a:ext>
            </a:extLst>
          </p:cNvPr>
          <p:cNvSpPr/>
          <p:nvPr/>
        </p:nvSpPr>
        <p:spPr>
          <a:xfrm>
            <a:off x="9623367" y="3429000"/>
            <a:ext cx="814647" cy="65670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Dc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1341201C-618A-4976-B89D-0882BC6F9D5A}"/>
              </a:ext>
            </a:extLst>
          </p:cNvPr>
          <p:cNvCxnSpPr>
            <a:stCxn id="4" idx="3"/>
            <a:endCxn id="5" idx="1"/>
          </p:cNvCxnSpPr>
          <p:nvPr/>
        </p:nvCxnSpPr>
        <p:spPr>
          <a:xfrm flipV="1">
            <a:off x="1454727" y="2331720"/>
            <a:ext cx="1673630" cy="142563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30A169B8-C82B-4853-931D-F497CF3801F2}"/>
              </a:ext>
            </a:extLst>
          </p:cNvPr>
          <p:cNvCxnSpPr>
            <a:stCxn id="4" idx="3"/>
            <a:endCxn id="7" idx="1"/>
          </p:cNvCxnSpPr>
          <p:nvPr/>
        </p:nvCxnSpPr>
        <p:spPr>
          <a:xfrm>
            <a:off x="1454727" y="3757353"/>
            <a:ext cx="1673628" cy="169856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50DB1358-85C8-4006-8FE8-7A4FAEAD4AC0}"/>
              </a:ext>
            </a:extLst>
          </p:cNvPr>
          <p:cNvCxnSpPr>
            <a:stCxn id="5" idx="2"/>
            <a:endCxn id="6" idx="0"/>
          </p:cNvCxnSpPr>
          <p:nvPr/>
        </p:nvCxnSpPr>
        <p:spPr>
          <a:xfrm flipH="1">
            <a:off x="3535680" y="2660073"/>
            <a:ext cx="1" cy="76892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F8BDC843-7696-425D-BF77-E5F3A6A10453}"/>
              </a:ext>
            </a:extLst>
          </p:cNvPr>
          <p:cNvCxnSpPr>
            <a:stCxn id="7" idx="0"/>
            <a:endCxn id="6" idx="2"/>
          </p:cNvCxnSpPr>
          <p:nvPr/>
        </p:nvCxnSpPr>
        <p:spPr>
          <a:xfrm flipV="1">
            <a:off x="3535679" y="4085706"/>
            <a:ext cx="1" cy="104186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914988A8-67CD-4071-B8B4-AF4093DA24E4}"/>
              </a:ext>
            </a:extLst>
          </p:cNvPr>
          <p:cNvCxnSpPr>
            <a:cxnSpLocks/>
            <a:stCxn id="6" idx="3"/>
            <a:endCxn id="8" idx="1"/>
          </p:cNvCxnSpPr>
          <p:nvPr/>
        </p:nvCxnSpPr>
        <p:spPr>
          <a:xfrm>
            <a:off x="3943003" y="3757353"/>
            <a:ext cx="2208415" cy="2701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BDBF240F-7895-464D-BACE-B9BCB50DB461}"/>
              </a:ext>
            </a:extLst>
          </p:cNvPr>
          <p:cNvCxnSpPr>
            <a:cxnSpLocks/>
            <a:stCxn id="5" idx="3"/>
          </p:cNvCxnSpPr>
          <p:nvPr/>
        </p:nvCxnSpPr>
        <p:spPr>
          <a:xfrm>
            <a:off x="3943004" y="2331720"/>
            <a:ext cx="607937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317CCA20-6A80-4D86-BA5E-933A53A7D2FD}"/>
              </a:ext>
            </a:extLst>
          </p:cNvPr>
          <p:cNvCxnSpPr>
            <a:cxnSpLocks/>
            <a:stCxn id="7" idx="3"/>
          </p:cNvCxnSpPr>
          <p:nvPr/>
        </p:nvCxnSpPr>
        <p:spPr>
          <a:xfrm>
            <a:off x="3943002" y="5455920"/>
            <a:ext cx="608768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059F99D3-8568-48E5-BE4C-96FC6D81BC0C}"/>
              </a:ext>
            </a:extLst>
          </p:cNvPr>
          <p:cNvCxnSpPr/>
          <p:nvPr/>
        </p:nvCxnSpPr>
        <p:spPr>
          <a:xfrm>
            <a:off x="10022378" y="2331720"/>
            <a:ext cx="0" cy="109728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7B0CA41B-2D8A-4712-9240-DB4BF4E91701}"/>
              </a:ext>
            </a:extLst>
          </p:cNvPr>
          <p:cNvCxnSpPr>
            <a:endCxn id="9" idx="2"/>
          </p:cNvCxnSpPr>
          <p:nvPr/>
        </p:nvCxnSpPr>
        <p:spPr>
          <a:xfrm flipV="1">
            <a:off x="10030690" y="4085706"/>
            <a:ext cx="1" cy="137021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9B2D9F28-25A6-4D97-9D24-4450ADC5E24A}"/>
              </a:ext>
            </a:extLst>
          </p:cNvPr>
          <p:cNvCxnSpPr>
            <a:cxnSpLocks/>
          </p:cNvCxnSpPr>
          <p:nvPr/>
        </p:nvCxnSpPr>
        <p:spPr>
          <a:xfrm>
            <a:off x="3943002" y="2510444"/>
            <a:ext cx="2654531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8B4DA455-FBA8-4DD6-BC9C-1051756C1871}"/>
              </a:ext>
            </a:extLst>
          </p:cNvPr>
          <p:cNvCxnSpPr/>
          <p:nvPr/>
        </p:nvCxnSpPr>
        <p:spPr>
          <a:xfrm>
            <a:off x="3943002" y="5245331"/>
            <a:ext cx="2654531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204942AA-9BC9-474B-B4B5-923734767A6F}"/>
              </a:ext>
            </a:extLst>
          </p:cNvPr>
          <p:cNvCxnSpPr>
            <a:cxnSpLocks/>
            <a:endCxn id="8" idx="0"/>
          </p:cNvCxnSpPr>
          <p:nvPr/>
        </p:nvCxnSpPr>
        <p:spPr>
          <a:xfrm flipH="1">
            <a:off x="6578138" y="2510444"/>
            <a:ext cx="19396" cy="97258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611189B9-CF80-4DB0-832C-9B1C6864FC7E}"/>
              </a:ext>
            </a:extLst>
          </p:cNvPr>
          <p:cNvCxnSpPr>
            <a:cxnSpLocks/>
            <a:endCxn id="8" idx="2"/>
          </p:cNvCxnSpPr>
          <p:nvPr/>
        </p:nvCxnSpPr>
        <p:spPr>
          <a:xfrm flipH="1" flipV="1">
            <a:off x="6578138" y="4085705"/>
            <a:ext cx="19396" cy="115962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D959D532-ED84-4FB0-8BD2-86FDAFE96AC9}"/>
              </a:ext>
            </a:extLst>
          </p:cNvPr>
          <p:cNvCxnSpPr/>
          <p:nvPr/>
        </p:nvCxnSpPr>
        <p:spPr>
          <a:xfrm>
            <a:off x="3943002" y="4001294"/>
            <a:ext cx="176784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DC71DC83-7067-47A8-A4A6-A0B5F26C834C}"/>
              </a:ext>
            </a:extLst>
          </p:cNvPr>
          <p:cNvCxnSpPr>
            <a:cxnSpLocks/>
          </p:cNvCxnSpPr>
          <p:nvPr/>
        </p:nvCxnSpPr>
        <p:spPr>
          <a:xfrm flipH="1">
            <a:off x="5710844" y="4001294"/>
            <a:ext cx="16625" cy="96971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1C40668F-0237-4B64-9DFA-154CE63DE36A}"/>
              </a:ext>
            </a:extLst>
          </p:cNvPr>
          <p:cNvCxnSpPr>
            <a:cxnSpLocks/>
          </p:cNvCxnSpPr>
          <p:nvPr/>
        </p:nvCxnSpPr>
        <p:spPr>
          <a:xfrm flipV="1">
            <a:off x="5710844" y="4946073"/>
            <a:ext cx="3075709" cy="3325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Connector 59">
            <a:extLst>
              <a:ext uri="{FF2B5EF4-FFF2-40B4-BE49-F238E27FC236}">
                <a16:creationId xmlns:a16="http://schemas.microsoft.com/office/drawing/2014/main" id="{9095349C-2D22-4CD4-BB4C-C049D92BD2F3}"/>
              </a:ext>
            </a:extLst>
          </p:cNvPr>
          <p:cNvCxnSpPr>
            <a:cxnSpLocks/>
          </p:cNvCxnSpPr>
          <p:nvPr/>
        </p:nvCxnSpPr>
        <p:spPr>
          <a:xfrm flipH="1" flipV="1">
            <a:off x="8778240" y="3757353"/>
            <a:ext cx="8313" cy="118872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id="{7C2092BC-177D-4822-9BC2-E307242F0795}"/>
              </a:ext>
            </a:extLst>
          </p:cNvPr>
          <p:cNvCxnSpPr/>
          <p:nvPr/>
        </p:nvCxnSpPr>
        <p:spPr>
          <a:xfrm>
            <a:off x="8778240" y="3757353"/>
            <a:ext cx="84512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6" name="Rectangle 75">
            <a:extLst>
              <a:ext uri="{FF2B5EF4-FFF2-40B4-BE49-F238E27FC236}">
                <a16:creationId xmlns:a16="http://schemas.microsoft.com/office/drawing/2014/main" id="{F04BA180-7F7A-4C67-AC07-4ADD23F9EA4C}"/>
              </a:ext>
            </a:extLst>
          </p:cNvPr>
          <p:cNvSpPr/>
          <p:nvPr/>
        </p:nvSpPr>
        <p:spPr>
          <a:xfrm rot="19216222">
            <a:off x="1696811" y="2695694"/>
            <a:ext cx="91640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err="1"/>
              <a:t>beta_cc</a:t>
            </a:r>
            <a:endParaRPr lang="en-US" dirty="0"/>
          </a:p>
        </p:txBody>
      </p:sp>
      <p:sp>
        <p:nvSpPr>
          <p:cNvPr id="81" name="Rectangle 80">
            <a:extLst>
              <a:ext uri="{FF2B5EF4-FFF2-40B4-BE49-F238E27FC236}">
                <a16:creationId xmlns:a16="http://schemas.microsoft.com/office/drawing/2014/main" id="{4F99FBAC-AED4-4822-BB44-F989FD60E8D6}"/>
              </a:ext>
            </a:extLst>
          </p:cNvPr>
          <p:cNvSpPr/>
          <p:nvPr/>
        </p:nvSpPr>
        <p:spPr>
          <a:xfrm rot="2695248">
            <a:off x="1558732" y="4421971"/>
            <a:ext cx="92922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err="1"/>
              <a:t>beta_ac</a:t>
            </a:r>
            <a:endParaRPr lang="en-US" dirty="0"/>
          </a:p>
        </p:txBody>
      </p:sp>
      <p:sp>
        <p:nvSpPr>
          <p:cNvPr id="83" name="Rectangle 82">
            <a:extLst>
              <a:ext uri="{FF2B5EF4-FFF2-40B4-BE49-F238E27FC236}">
                <a16:creationId xmlns:a16="http://schemas.microsoft.com/office/drawing/2014/main" id="{8136DDFA-72D4-4B99-9717-9C18DC9899EE}"/>
              </a:ext>
            </a:extLst>
          </p:cNvPr>
          <p:cNvSpPr/>
          <p:nvPr/>
        </p:nvSpPr>
        <p:spPr>
          <a:xfrm>
            <a:off x="4555375" y="2421375"/>
            <a:ext cx="109247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err="1"/>
              <a:t>gamma_c</a:t>
            </a:r>
            <a:endParaRPr lang="en-US" dirty="0"/>
          </a:p>
        </p:txBody>
      </p:sp>
      <p:sp>
        <p:nvSpPr>
          <p:cNvPr id="84" name="Rectangle 83">
            <a:extLst>
              <a:ext uri="{FF2B5EF4-FFF2-40B4-BE49-F238E27FC236}">
                <a16:creationId xmlns:a16="http://schemas.microsoft.com/office/drawing/2014/main" id="{8922CD34-F6E5-4168-81CE-116DD77E39F7}"/>
              </a:ext>
            </a:extLst>
          </p:cNvPr>
          <p:cNvSpPr/>
          <p:nvPr/>
        </p:nvSpPr>
        <p:spPr>
          <a:xfrm>
            <a:off x="4260423" y="3388020"/>
            <a:ext cx="138743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/>
              <a:t>gamma_c_Id</a:t>
            </a:r>
            <a:endParaRPr lang="en-US" dirty="0"/>
          </a:p>
        </p:txBody>
      </p:sp>
      <p:sp>
        <p:nvSpPr>
          <p:cNvPr id="85" name="Rectangle 84">
            <a:extLst>
              <a:ext uri="{FF2B5EF4-FFF2-40B4-BE49-F238E27FC236}">
                <a16:creationId xmlns:a16="http://schemas.microsoft.com/office/drawing/2014/main" id="{9C3AE86B-4BE3-4677-805D-AED5FEBE3E93}"/>
              </a:ext>
            </a:extLst>
          </p:cNvPr>
          <p:cNvSpPr/>
          <p:nvPr/>
        </p:nvSpPr>
        <p:spPr>
          <a:xfrm>
            <a:off x="4277913" y="4887374"/>
            <a:ext cx="109247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err="1"/>
              <a:t>gamma_c</a:t>
            </a:r>
            <a:endParaRPr lang="en-US" dirty="0"/>
          </a:p>
        </p:txBody>
      </p:sp>
      <p:sp>
        <p:nvSpPr>
          <p:cNvPr id="90" name="Rectangle 89">
            <a:extLst>
              <a:ext uri="{FF2B5EF4-FFF2-40B4-BE49-F238E27FC236}">
                <a16:creationId xmlns:a16="http://schemas.microsoft.com/office/drawing/2014/main" id="{0E8BC230-2425-43BF-ACC2-23BA59E5F9CB}"/>
              </a:ext>
            </a:extLst>
          </p:cNvPr>
          <p:cNvSpPr/>
          <p:nvPr/>
        </p:nvSpPr>
        <p:spPr>
          <a:xfrm>
            <a:off x="7146376" y="2003369"/>
            <a:ext cx="89554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err="1"/>
              <a:t>rho_c_I</a:t>
            </a:r>
            <a:endParaRPr lang="en-US" dirty="0"/>
          </a:p>
        </p:txBody>
      </p:sp>
      <p:sp>
        <p:nvSpPr>
          <p:cNvPr id="93" name="Rectangle 92">
            <a:extLst>
              <a:ext uri="{FF2B5EF4-FFF2-40B4-BE49-F238E27FC236}">
                <a16:creationId xmlns:a16="http://schemas.microsoft.com/office/drawing/2014/main" id="{9D0D7627-BE97-4578-B9B5-70A295E203BD}"/>
              </a:ext>
            </a:extLst>
          </p:cNvPr>
          <p:cNvSpPr/>
          <p:nvPr/>
        </p:nvSpPr>
        <p:spPr>
          <a:xfrm>
            <a:off x="7341894" y="5113016"/>
            <a:ext cx="999551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err="1"/>
              <a:t>rho_c_I</a:t>
            </a:r>
            <a:endParaRPr lang="en-US" dirty="0"/>
          </a:p>
        </p:txBody>
      </p:sp>
      <p:sp>
        <p:nvSpPr>
          <p:cNvPr id="94" name="Rectangle 93">
            <a:extLst>
              <a:ext uri="{FF2B5EF4-FFF2-40B4-BE49-F238E27FC236}">
                <a16:creationId xmlns:a16="http://schemas.microsoft.com/office/drawing/2014/main" id="{52B3C891-9988-4ED3-B464-7138D10CEFE3}"/>
              </a:ext>
            </a:extLst>
          </p:cNvPr>
          <p:cNvSpPr/>
          <p:nvPr/>
        </p:nvSpPr>
        <p:spPr>
          <a:xfrm>
            <a:off x="6918344" y="4638390"/>
            <a:ext cx="1051405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err="1"/>
              <a:t>rho_c_Id</a:t>
            </a:r>
            <a:endParaRPr lang="en-US" dirty="0"/>
          </a:p>
        </p:txBody>
      </p:sp>
      <p:sp>
        <p:nvSpPr>
          <p:cNvPr id="95" name="Rectangle 94">
            <a:extLst>
              <a:ext uri="{FF2B5EF4-FFF2-40B4-BE49-F238E27FC236}">
                <a16:creationId xmlns:a16="http://schemas.microsoft.com/office/drawing/2014/main" id="{7137B2C2-66B4-4049-A629-A8C1AC7D3584}"/>
              </a:ext>
            </a:extLst>
          </p:cNvPr>
          <p:cNvSpPr/>
          <p:nvPr/>
        </p:nvSpPr>
        <p:spPr>
          <a:xfrm>
            <a:off x="2625436" y="2803760"/>
            <a:ext cx="1052105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err="1"/>
              <a:t>sigma_c</a:t>
            </a:r>
            <a:endParaRPr lang="en-US" dirty="0"/>
          </a:p>
        </p:txBody>
      </p:sp>
      <p:sp>
        <p:nvSpPr>
          <p:cNvPr id="96" name="Rectangle 95">
            <a:extLst>
              <a:ext uri="{FF2B5EF4-FFF2-40B4-BE49-F238E27FC236}">
                <a16:creationId xmlns:a16="http://schemas.microsoft.com/office/drawing/2014/main" id="{C2D22F7B-2383-4EE7-BC36-65BC96A1C3C7}"/>
              </a:ext>
            </a:extLst>
          </p:cNvPr>
          <p:cNvSpPr/>
          <p:nvPr/>
        </p:nvSpPr>
        <p:spPr>
          <a:xfrm>
            <a:off x="2651165" y="4265485"/>
            <a:ext cx="954381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err="1"/>
              <a:t>sigma_c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426092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DB64C3-DF88-4E25-A961-4C25EAC624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u="sng" dirty="0"/>
              <a:t>Cont’d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B98B83-299D-4E98-AA9A-E9B56EF302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7942" y="1825625"/>
            <a:ext cx="11887200" cy="4351338"/>
          </a:xfrm>
        </p:spPr>
        <p:txBody>
          <a:bodyPr/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153752C5-8D5B-42BF-AD45-4B9D46095FEB}"/>
              </a:ext>
            </a:extLst>
          </p:cNvPr>
          <p:cNvSpPr/>
          <p:nvPr/>
        </p:nvSpPr>
        <p:spPr>
          <a:xfrm>
            <a:off x="764771" y="1825625"/>
            <a:ext cx="10956174" cy="48013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u="sng" dirty="0"/>
              <a:t>Children parameters 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beta_cc</a:t>
            </a:r>
            <a:r>
              <a:rPr lang="en-US" dirty="0"/>
              <a:t> = Transmission rate the children who acquired the disease via the child to child transmission pathway 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beta_ac</a:t>
            </a:r>
            <a:r>
              <a:rPr lang="en-US" dirty="0"/>
              <a:t> = Transmission rate the children who acquired the disease via the adult to child transmission pathway 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sigma_c</a:t>
            </a:r>
            <a:r>
              <a:rPr lang="en-US" dirty="0"/>
              <a:t> = Detection rate  for the children who where infectious and identified in the population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gamma_c</a:t>
            </a:r>
            <a:r>
              <a:rPr lang="en-US" dirty="0"/>
              <a:t> = Recovery rate for the children who were infectious and remained in the general population  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gamma_c_Id</a:t>
            </a:r>
            <a:r>
              <a:rPr lang="en-US" dirty="0"/>
              <a:t> = Recovery rate for the children who were detected 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rho_c_I</a:t>
            </a:r>
            <a:r>
              <a:rPr lang="en-US" dirty="0"/>
              <a:t> = Mortality rate for the infected children in the community 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rho_c_Id</a:t>
            </a:r>
            <a:r>
              <a:rPr lang="en-US" dirty="0"/>
              <a:t> = Mortality rate for the infected children that were detected and isolated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r>
              <a:rPr lang="en-US" dirty="0"/>
              <a:t>Initial states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S_c</a:t>
            </a:r>
            <a:r>
              <a:rPr lang="en-US" dirty="0"/>
              <a:t> = Susceptible children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I_cc</a:t>
            </a:r>
            <a:r>
              <a:rPr lang="en-US" dirty="0"/>
              <a:t> = Infectious children that acquired the disease via the child to child transmission pathway 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I_ac</a:t>
            </a:r>
            <a:r>
              <a:rPr lang="en-US" dirty="0"/>
              <a:t> = Infectious children that acquired the disease via the adult to child transmission pathway 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Id_c</a:t>
            </a:r>
            <a:r>
              <a:rPr lang="en-US" dirty="0"/>
              <a:t> = Detected children 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R_c</a:t>
            </a:r>
            <a:r>
              <a:rPr lang="en-US" dirty="0"/>
              <a:t> = Recovered children 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D_c</a:t>
            </a:r>
            <a:r>
              <a:rPr lang="en-US" dirty="0"/>
              <a:t> = Dead </a:t>
            </a:r>
            <a:r>
              <a:rPr lang="en-US"/>
              <a:t>children 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907139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DB64C3-DF88-4E25-A961-4C25EAC624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Model transitions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B98B83-299D-4E98-AA9A-E9B56EF302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7942" y="1825625"/>
            <a:ext cx="11887200" cy="4351338"/>
          </a:xfrm>
        </p:spPr>
        <p:txBody>
          <a:bodyPr/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306F24E6-5700-478B-BA20-0FE64F6AADD3}"/>
              </a:ext>
            </a:extLst>
          </p:cNvPr>
          <p:cNvSpPr/>
          <p:nvPr/>
        </p:nvSpPr>
        <p:spPr>
          <a:xfrm>
            <a:off x="640080" y="3429000"/>
            <a:ext cx="814647" cy="65670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Sa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C0AFC17E-90A6-479F-9727-33D231969D77}"/>
              </a:ext>
            </a:extLst>
          </p:cNvPr>
          <p:cNvSpPr/>
          <p:nvPr/>
        </p:nvSpPr>
        <p:spPr>
          <a:xfrm>
            <a:off x="3128357" y="2003367"/>
            <a:ext cx="814647" cy="65670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Iaa</a:t>
            </a:r>
            <a:endParaRPr lang="en-US" dirty="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660B64B8-2E81-4C61-91F2-B56C5B7C4074}"/>
              </a:ext>
            </a:extLst>
          </p:cNvPr>
          <p:cNvSpPr/>
          <p:nvPr/>
        </p:nvSpPr>
        <p:spPr>
          <a:xfrm>
            <a:off x="3128356" y="3429000"/>
            <a:ext cx="814647" cy="65670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Id_a</a:t>
            </a:r>
            <a:endParaRPr lang="en-US" dirty="0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F2015EE1-E21A-49C2-A1A6-93A5658D34B6}"/>
              </a:ext>
            </a:extLst>
          </p:cNvPr>
          <p:cNvSpPr/>
          <p:nvPr/>
        </p:nvSpPr>
        <p:spPr>
          <a:xfrm>
            <a:off x="3128355" y="5127567"/>
            <a:ext cx="814647" cy="65670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Ica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2C649B7F-47BB-4B5F-A7E2-1C00BEEA20BD}"/>
              </a:ext>
            </a:extLst>
          </p:cNvPr>
          <p:cNvSpPr/>
          <p:nvPr/>
        </p:nvSpPr>
        <p:spPr>
          <a:xfrm>
            <a:off x="6190210" y="3429000"/>
            <a:ext cx="814647" cy="65670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Ra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9917B16F-D2EC-4B81-BCF1-6F3A1116A20A}"/>
              </a:ext>
            </a:extLst>
          </p:cNvPr>
          <p:cNvSpPr/>
          <p:nvPr/>
        </p:nvSpPr>
        <p:spPr>
          <a:xfrm>
            <a:off x="9623367" y="3429000"/>
            <a:ext cx="814647" cy="65670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Da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1341201C-618A-4976-B89D-0882BC6F9D5A}"/>
              </a:ext>
            </a:extLst>
          </p:cNvPr>
          <p:cNvCxnSpPr>
            <a:stCxn id="4" idx="3"/>
            <a:endCxn id="5" idx="1"/>
          </p:cNvCxnSpPr>
          <p:nvPr/>
        </p:nvCxnSpPr>
        <p:spPr>
          <a:xfrm flipV="1">
            <a:off x="1454727" y="2331720"/>
            <a:ext cx="1673630" cy="142563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30A169B8-C82B-4853-931D-F497CF3801F2}"/>
              </a:ext>
            </a:extLst>
          </p:cNvPr>
          <p:cNvCxnSpPr>
            <a:stCxn id="4" idx="3"/>
            <a:endCxn id="7" idx="1"/>
          </p:cNvCxnSpPr>
          <p:nvPr/>
        </p:nvCxnSpPr>
        <p:spPr>
          <a:xfrm>
            <a:off x="1454727" y="3757353"/>
            <a:ext cx="1673628" cy="169856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50DB1358-85C8-4006-8FE8-7A4FAEAD4AC0}"/>
              </a:ext>
            </a:extLst>
          </p:cNvPr>
          <p:cNvCxnSpPr>
            <a:stCxn id="5" idx="2"/>
            <a:endCxn id="6" idx="0"/>
          </p:cNvCxnSpPr>
          <p:nvPr/>
        </p:nvCxnSpPr>
        <p:spPr>
          <a:xfrm flipH="1">
            <a:off x="3535680" y="2660073"/>
            <a:ext cx="1" cy="76892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F8BDC843-7696-425D-BF77-E5F3A6A10453}"/>
              </a:ext>
            </a:extLst>
          </p:cNvPr>
          <p:cNvCxnSpPr>
            <a:stCxn id="7" idx="0"/>
            <a:endCxn id="6" idx="2"/>
          </p:cNvCxnSpPr>
          <p:nvPr/>
        </p:nvCxnSpPr>
        <p:spPr>
          <a:xfrm flipV="1">
            <a:off x="3535679" y="4085706"/>
            <a:ext cx="1" cy="104186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914988A8-67CD-4071-B8B4-AF4093DA24E4}"/>
              </a:ext>
            </a:extLst>
          </p:cNvPr>
          <p:cNvCxnSpPr>
            <a:stCxn id="6" idx="3"/>
            <a:endCxn id="8" idx="1"/>
          </p:cNvCxnSpPr>
          <p:nvPr/>
        </p:nvCxnSpPr>
        <p:spPr>
          <a:xfrm>
            <a:off x="3943003" y="3757353"/>
            <a:ext cx="224720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BDBF240F-7895-464D-BACE-B9BCB50DB461}"/>
              </a:ext>
            </a:extLst>
          </p:cNvPr>
          <p:cNvCxnSpPr>
            <a:cxnSpLocks/>
            <a:stCxn id="5" idx="3"/>
          </p:cNvCxnSpPr>
          <p:nvPr/>
        </p:nvCxnSpPr>
        <p:spPr>
          <a:xfrm>
            <a:off x="3943004" y="2331720"/>
            <a:ext cx="607937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317CCA20-6A80-4D86-BA5E-933A53A7D2FD}"/>
              </a:ext>
            </a:extLst>
          </p:cNvPr>
          <p:cNvCxnSpPr>
            <a:cxnSpLocks/>
            <a:stCxn id="7" idx="3"/>
          </p:cNvCxnSpPr>
          <p:nvPr/>
        </p:nvCxnSpPr>
        <p:spPr>
          <a:xfrm>
            <a:off x="3943002" y="5455920"/>
            <a:ext cx="608768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059F99D3-8568-48E5-BE4C-96FC6D81BC0C}"/>
              </a:ext>
            </a:extLst>
          </p:cNvPr>
          <p:cNvCxnSpPr/>
          <p:nvPr/>
        </p:nvCxnSpPr>
        <p:spPr>
          <a:xfrm>
            <a:off x="10022378" y="2331720"/>
            <a:ext cx="0" cy="109728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7B0CA41B-2D8A-4712-9240-DB4BF4E91701}"/>
              </a:ext>
            </a:extLst>
          </p:cNvPr>
          <p:cNvCxnSpPr>
            <a:endCxn id="9" idx="2"/>
          </p:cNvCxnSpPr>
          <p:nvPr/>
        </p:nvCxnSpPr>
        <p:spPr>
          <a:xfrm flipV="1">
            <a:off x="10030690" y="4085706"/>
            <a:ext cx="1" cy="137021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9B2D9F28-25A6-4D97-9D24-4450ADC5E24A}"/>
              </a:ext>
            </a:extLst>
          </p:cNvPr>
          <p:cNvCxnSpPr>
            <a:cxnSpLocks/>
          </p:cNvCxnSpPr>
          <p:nvPr/>
        </p:nvCxnSpPr>
        <p:spPr>
          <a:xfrm>
            <a:off x="3943002" y="2510444"/>
            <a:ext cx="2654531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8B4DA455-FBA8-4DD6-BC9C-1051756C1871}"/>
              </a:ext>
            </a:extLst>
          </p:cNvPr>
          <p:cNvCxnSpPr/>
          <p:nvPr/>
        </p:nvCxnSpPr>
        <p:spPr>
          <a:xfrm>
            <a:off x="3943002" y="5245331"/>
            <a:ext cx="2654531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204942AA-9BC9-474B-B4B5-923734767A6F}"/>
              </a:ext>
            </a:extLst>
          </p:cNvPr>
          <p:cNvCxnSpPr>
            <a:cxnSpLocks/>
            <a:endCxn id="8" idx="0"/>
          </p:cNvCxnSpPr>
          <p:nvPr/>
        </p:nvCxnSpPr>
        <p:spPr>
          <a:xfrm>
            <a:off x="6597534" y="2510444"/>
            <a:ext cx="0" cy="91855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611189B9-CF80-4DB0-832C-9B1C6864FC7E}"/>
              </a:ext>
            </a:extLst>
          </p:cNvPr>
          <p:cNvCxnSpPr>
            <a:endCxn id="8" idx="2"/>
          </p:cNvCxnSpPr>
          <p:nvPr/>
        </p:nvCxnSpPr>
        <p:spPr>
          <a:xfrm flipV="1">
            <a:off x="6597533" y="4085706"/>
            <a:ext cx="1" cy="115962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D959D532-ED84-4FB0-8BD2-86FDAFE96AC9}"/>
              </a:ext>
            </a:extLst>
          </p:cNvPr>
          <p:cNvCxnSpPr/>
          <p:nvPr/>
        </p:nvCxnSpPr>
        <p:spPr>
          <a:xfrm>
            <a:off x="3943002" y="4001294"/>
            <a:ext cx="176784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DC71DC83-7067-47A8-A4A6-A0B5F26C834C}"/>
              </a:ext>
            </a:extLst>
          </p:cNvPr>
          <p:cNvCxnSpPr>
            <a:cxnSpLocks/>
          </p:cNvCxnSpPr>
          <p:nvPr/>
        </p:nvCxnSpPr>
        <p:spPr>
          <a:xfrm flipH="1">
            <a:off x="5710844" y="4001294"/>
            <a:ext cx="16625" cy="96971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1C40668F-0237-4B64-9DFA-154CE63DE36A}"/>
              </a:ext>
            </a:extLst>
          </p:cNvPr>
          <p:cNvCxnSpPr>
            <a:cxnSpLocks/>
          </p:cNvCxnSpPr>
          <p:nvPr/>
        </p:nvCxnSpPr>
        <p:spPr>
          <a:xfrm flipV="1">
            <a:off x="5710844" y="4946073"/>
            <a:ext cx="3075709" cy="3325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Connector 59">
            <a:extLst>
              <a:ext uri="{FF2B5EF4-FFF2-40B4-BE49-F238E27FC236}">
                <a16:creationId xmlns:a16="http://schemas.microsoft.com/office/drawing/2014/main" id="{9095349C-2D22-4CD4-BB4C-C049D92BD2F3}"/>
              </a:ext>
            </a:extLst>
          </p:cNvPr>
          <p:cNvCxnSpPr>
            <a:cxnSpLocks/>
          </p:cNvCxnSpPr>
          <p:nvPr/>
        </p:nvCxnSpPr>
        <p:spPr>
          <a:xfrm flipH="1" flipV="1">
            <a:off x="8778240" y="3757353"/>
            <a:ext cx="8313" cy="118872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id="{7C2092BC-177D-4822-9BC2-E307242F0795}"/>
              </a:ext>
            </a:extLst>
          </p:cNvPr>
          <p:cNvCxnSpPr/>
          <p:nvPr/>
        </p:nvCxnSpPr>
        <p:spPr>
          <a:xfrm>
            <a:off x="8778240" y="3757353"/>
            <a:ext cx="84512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Rectangle 23">
            <a:extLst>
              <a:ext uri="{FF2B5EF4-FFF2-40B4-BE49-F238E27FC236}">
                <a16:creationId xmlns:a16="http://schemas.microsoft.com/office/drawing/2014/main" id="{DCEA9A79-5331-44C5-8493-BBC851B74F53}"/>
              </a:ext>
            </a:extLst>
          </p:cNvPr>
          <p:cNvSpPr/>
          <p:nvPr/>
        </p:nvSpPr>
        <p:spPr>
          <a:xfrm rot="19207284">
            <a:off x="1677789" y="2511028"/>
            <a:ext cx="967045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err="1"/>
              <a:t>beta_aa</a:t>
            </a:r>
            <a:endParaRPr lang="en-US" dirty="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4C7F2C57-396B-4515-B22F-CA5D610F065F}"/>
              </a:ext>
            </a:extLst>
          </p:cNvPr>
          <p:cNvSpPr/>
          <p:nvPr/>
        </p:nvSpPr>
        <p:spPr>
          <a:xfrm rot="2808662">
            <a:off x="1522161" y="4421969"/>
            <a:ext cx="965185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err="1"/>
              <a:t>beta_ca</a:t>
            </a:r>
            <a:endParaRPr lang="en-US" dirty="0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DED5C35C-38A3-413B-839E-9860A1A8BBE1}"/>
              </a:ext>
            </a:extLst>
          </p:cNvPr>
          <p:cNvSpPr/>
          <p:nvPr/>
        </p:nvSpPr>
        <p:spPr>
          <a:xfrm>
            <a:off x="4574771" y="2413062"/>
            <a:ext cx="122196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err="1"/>
              <a:t>gamma_a</a:t>
            </a:r>
            <a:endParaRPr lang="en-US" dirty="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D6623218-E2A1-452E-8F77-1DFA67BB6DF4}"/>
              </a:ext>
            </a:extLst>
          </p:cNvPr>
          <p:cNvSpPr/>
          <p:nvPr/>
        </p:nvSpPr>
        <p:spPr>
          <a:xfrm>
            <a:off x="4438594" y="4942901"/>
            <a:ext cx="112065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err="1"/>
              <a:t>gamma_a</a:t>
            </a:r>
            <a:endParaRPr lang="en-US" dirty="0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BF28ED89-2744-4D40-BA7E-89219F2451F2}"/>
              </a:ext>
            </a:extLst>
          </p:cNvPr>
          <p:cNvSpPr/>
          <p:nvPr/>
        </p:nvSpPr>
        <p:spPr>
          <a:xfrm>
            <a:off x="2556291" y="2969722"/>
            <a:ext cx="1015411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err="1"/>
              <a:t>sigma_a</a:t>
            </a:r>
            <a:endParaRPr lang="en-US" dirty="0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94036652-ACC9-44DC-A1A6-4F19A2B06EC7}"/>
              </a:ext>
            </a:extLst>
          </p:cNvPr>
          <p:cNvSpPr/>
          <p:nvPr/>
        </p:nvSpPr>
        <p:spPr>
          <a:xfrm>
            <a:off x="2642457" y="4409393"/>
            <a:ext cx="1015411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err="1"/>
              <a:t>sigma_a</a:t>
            </a:r>
            <a:endParaRPr lang="en-US" dirty="0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89C1B8D4-4423-486C-8DB6-4F987AF13CE8}"/>
              </a:ext>
            </a:extLst>
          </p:cNvPr>
          <p:cNvSpPr/>
          <p:nvPr/>
        </p:nvSpPr>
        <p:spPr>
          <a:xfrm>
            <a:off x="4405744" y="3429000"/>
            <a:ext cx="140234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err="1"/>
              <a:t>gamma_a_Id</a:t>
            </a:r>
            <a:endParaRPr lang="en-US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CD4E4061-38EE-4CE3-B171-C4116E04D521}"/>
              </a:ext>
            </a:extLst>
          </p:cNvPr>
          <p:cNvSpPr/>
          <p:nvPr/>
        </p:nvSpPr>
        <p:spPr>
          <a:xfrm>
            <a:off x="6786841" y="1982618"/>
            <a:ext cx="101541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err="1"/>
              <a:t>rho_a_I</a:t>
            </a:r>
            <a:endParaRPr lang="en-US" dirty="0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5284E253-A089-4D3E-BFC2-DA5BDCF9FB0A}"/>
              </a:ext>
            </a:extLst>
          </p:cNvPr>
          <p:cNvSpPr/>
          <p:nvPr/>
        </p:nvSpPr>
        <p:spPr>
          <a:xfrm>
            <a:off x="7268097" y="5120686"/>
            <a:ext cx="117424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err="1"/>
              <a:t>rho_a_I</a:t>
            </a:r>
            <a:endParaRPr lang="en-US" dirty="0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60207D26-EECB-498C-BB12-BE0C881B52DF}"/>
              </a:ext>
            </a:extLst>
          </p:cNvPr>
          <p:cNvSpPr/>
          <p:nvPr/>
        </p:nvSpPr>
        <p:spPr>
          <a:xfrm>
            <a:off x="7147593" y="4601680"/>
            <a:ext cx="122196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err="1"/>
              <a:t>rho_a_Id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1500628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120</TotalTime>
  <Words>282</Words>
  <Application>Microsoft Office PowerPoint</Application>
  <PresentationFormat>Widescreen</PresentationFormat>
  <Paragraphs>57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Calibri Light</vt:lpstr>
      <vt:lpstr>Office Theme</vt:lpstr>
      <vt:lpstr>PowerPoint Presentation</vt:lpstr>
      <vt:lpstr>Model transitions for the children’s population</vt:lpstr>
      <vt:lpstr>Cont’d</vt:lpstr>
      <vt:lpstr>Model transitions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Shakira Babirye</dc:creator>
  <cp:lastModifiedBy>Shakira Babirye</cp:lastModifiedBy>
  <cp:revision>15</cp:revision>
  <dcterms:created xsi:type="dcterms:W3CDTF">2024-10-21T12:56:41Z</dcterms:created>
  <dcterms:modified xsi:type="dcterms:W3CDTF">2024-10-21T14:57:16Z</dcterms:modified>
</cp:coreProperties>
</file>